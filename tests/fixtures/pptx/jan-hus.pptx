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35024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12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FB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DĚJEPIS • 8. TŘÍDA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548640" y="1801368"/>
            <a:ext cx="8046720" cy="14264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89600"/>
              </a:lnSpc>
              <a:spcBef>
                <a:spcPts val="360"/>
              </a:spcBef>
              <a:buNone/>
            </a:pPr>
            <a:r>
              <a:rPr lang="en-US" sz="432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Hus a T. G. Masaryk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548640" y="3282696"/>
            <a:ext cx="1280160" cy="45720"/>
          </a:xfrm>
          <a:custGeom>
            <a:avLst/>
            <a:gdLst/>
            <a:ahLst/>
            <a:cxnLst/>
            <a:rect l="l" t="t" r="r" b="b"/>
            <a:pathLst>
              <a:path w="1280160" h="45720">
                <a:moveTo>
                  <a:pt x="0" y="0"/>
                </a:moveTo>
                <a:lnTo>
                  <a:pt x="1280160" y="0"/>
                </a:lnTo>
                <a:lnTo>
                  <a:pt x="1280160" y="45720"/>
                </a:lnTo>
                <a:lnTo>
                  <a:pt x="0" y="45720"/>
                </a:lnTo>
                <a:lnTo>
                  <a:pt x="0" y="0"/>
                </a:lnTo>
              </a:path>
            </a:pathLst>
          </a:custGeom>
          <a:solidFill>
            <a:srgbClr val="7FB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511296"/>
            <a:ext cx="8046720" cy="10881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04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CB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se středověký reformátor stal symbolem novodobé české státnosti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44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Proč spojujeme Husa a T. G. Masaryka?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548640" y="1591056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lnTo>
                  <a:pt x="0" y="0"/>
                </a:lnTo>
              </a:path>
            </a:pathLst>
          </a:cu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792224"/>
            <a:ext cx="3840480" cy="8046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Hus (15. století)</a:t>
            </a:r>
            <a:endParaRPr lang="en-US" sz="1152" dirty="0"/>
          </a:p>
        </p:txBody>
      </p:sp>
      <p:sp>
        <p:nvSpPr>
          <p:cNvPr id="5" name="Text 3"/>
          <p:cNvSpPr/>
          <p:nvPr/>
        </p:nvSpPr>
        <p:spPr>
          <a:xfrm>
            <a:off x="548640" y="2596896"/>
            <a:ext cx="3840480" cy="2002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Národní a náboženský reformátor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 morální síly a pravdy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Mučednická smrt v Kostnici (1415)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4754880" y="1792224"/>
            <a:ext cx="3840480" cy="8046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 G. Masaryk (20. století)</a:t>
            </a:r>
            <a:endParaRPr lang="en-US" sz="1152" dirty="0"/>
          </a:p>
        </p:txBody>
      </p:sp>
      <p:sp>
        <p:nvSpPr>
          <p:cNvPr id="7" name="Text 5"/>
          <p:cNvSpPr/>
          <p:nvPr/>
        </p:nvSpPr>
        <p:spPr>
          <a:xfrm>
            <a:off x="4754880" y="2596896"/>
            <a:ext cx="3840480" cy="2002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První československý prezident (1918)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Demokracie, humanita a osvěta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Inspirace v českých dějinách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04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STŘEDOVĚKÝ ODKAZ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8046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44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Hus: Hledání pravdy a mravní čistoty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lnTo>
                  <a:pt x="0" y="0"/>
                </a:lnTo>
              </a:path>
            </a:pathLst>
          </a:cu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21992"/>
            <a:ext cx="8046720" cy="2377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Kazatel v Betlémské kapli: kritika mravního úpadku církve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Důraz na pravdu a svědomí: „Pravda vítězí“ (Veritas vincit)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Kostnický proces a upálení 6. července 1415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Husovo dílo ovlivnilo evropskou reformaci i českou identitu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04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MODERNÍ STÁTNOST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8046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44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 G. Masaryk: Demokracie a humanita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lnTo>
                  <a:pt x="0" y="0"/>
                </a:lnTo>
              </a:path>
            </a:pathLst>
          </a:cu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21992"/>
            <a:ext cx="8046720" cy="2377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Filosof, politik a první československý prezident (1918–1935)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Demokracie není jen forma vlády, ale diskuse a mravnost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Myšlenka humanity jako smysl českých dějin (Palacký, Havlíček, Hus)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„Ježíš, ne Caesar“ – odmítnutí násilí a hrubé moci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04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E6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DUCHOVNÍ MOST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548640" y="978408"/>
            <a:ext cx="8046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44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Masarykův výklad českých dějin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lnTo>
                  <a:pt x="0" y="0"/>
                </a:lnTo>
              </a:path>
            </a:pathLst>
          </a:cu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21992"/>
            <a:ext cx="8046720" cy="2377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Masaryk viděl v české reformaci (Hus, Chelčický, Jednota bratrská) jádro národního programu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Česká otázka: smysl našich dějin spočívá v náboženských a mravních ideálech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Pravda není vlastnictvím většiny, ale závazkem každého jednotlivce</a:t>
            </a:r>
            <a:endParaRPr lang="en-US" sz="1152" dirty="0"/>
          </a:p>
          <a:p>
            <a:pPr marL="251460" indent="-25146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Prezidentská standarta nese nápis: „Pravda vítězí“ – přímé spojení s Husem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35024"/>
            <a:ext cx="8046720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12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7FB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ODKAZ PRO DNEŠEK</a:t>
            </a:r>
            <a:endParaRPr lang="en-US" sz="1152" dirty="0"/>
          </a:p>
        </p:txBody>
      </p:sp>
      <p:sp>
        <p:nvSpPr>
          <p:cNvPr id="3" name="Text 1"/>
          <p:cNvSpPr/>
          <p:nvPr/>
        </p:nvSpPr>
        <p:spPr>
          <a:xfrm>
            <a:off x="548640" y="1801368"/>
            <a:ext cx="804672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896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Dějiny jako živý odkaz</a:t>
            </a:r>
            <a:endParaRPr lang="en-US" sz="1152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1280160" cy="45720"/>
          </a:xfrm>
          <a:custGeom>
            <a:avLst/>
            <a:gdLst/>
            <a:ahLst/>
            <a:cxnLst/>
            <a:rect l="l" t="t" r="r" b="b"/>
            <a:pathLst>
              <a:path w="1280160" h="45720">
                <a:moveTo>
                  <a:pt x="0" y="0"/>
                </a:moveTo>
                <a:lnTo>
                  <a:pt x="1280160" y="0"/>
                </a:lnTo>
                <a:lnTo>
                  <a:pt x="1280160" y="45720"/>
                </a:lnTo>
                <a:lnTo>
                  <a:pt x="0" y="45720"/>
                </a:lnTo>
                <a:lnTo>
                  <a:pt x="0" y="0"/>
                </a:lnTo>
              </a:path>
            </a:pathLst>
          </a:custGeom>
          <a:solidFill>
            <a:srgbClr val="7FB2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12161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04000"/>
              </a:lnSpc>
              <a:spcBef>
                <a:spcPts val="360"/>
              </a:spcBef>
              <a:buNone/>
            </a:pPr>
            <a:r>
              <a:rPr lang="en-US" sz="2016" dirty="0">
                <a:solidFill>
                  <a:srgbClr val="CBD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Svoboda svědomí, odvaha stát za pravdou a odpovědnost za demokracii.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10058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944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 G. Masaryk</a:t>
            </a:r>
            <a:endParaRPr lang="en-US" sz="1152" dirty="0"/>
          </a:p>
        </p:txBody>
      </p:sp>
      <p:sp>
        <p:nvSpPr>
          <p:cNvPr id="3" name="Shape 1"/>
          <p:cNvSpPr/>
          <p:nvPr/>
        </p:nvSpPr>
        <p:spPr>
          <a:xfrm>
            <a:off x="548640" y="1591056"/>
            <a:ext cx="1097280" cy="36576"/>
          </a:xfrm>
          <a:custGeom>
            <a:avLst/>
            <a:gdLst/>
            <a:ahLst/>
            <a:cxnLst/>
            <a:rect l="l" t="t" r="r" b="b"/>
            <a:pathLst>
              <a:path w="1097280" h="36576">
                <a:moveTo>
                  <a:pt x="0" y="0"/>
                </a:moveTo>
                <a:lnTo>
                  <a:pt x="1097280" y="0"/>
                </a:lnTo>
                <a:lnTo>
                  <a:pt x="1097280" y="36576"/>
                </a:lnTo>
                <a:lnTo>
                  <a:pt x="0" y="36576"/>
                </a:lnTo>
                <a:lnTo>
                  <a:pt x="0" y="0"/>
                </a:lnTo>
              </a:path>
            </a:pathLst>
          </a:custGeom>
          <a:solidFill>
            <a:srgbClr val="2E6FB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632" y="1792224"/>
            <a:ext cx="3538728" cy="2807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92224"/>
            <a:ext cx="4142232" cy="28072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283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Filosof, politik a první československý prezident. Propojil moderní českou státnost s ideály reformace a humanity.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2026-08-04T09:07:53Z</dcterms:created>
  <dcterms:modified xsi:type="dcterms:W3CDTF">2026-08-04T09:07:53Z</dcterms:modified>
</cp:coreProperties>
</file>